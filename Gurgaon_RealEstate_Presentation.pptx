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9" r:id="rId9"/>
    <p:sldId id="270" r:id="rId10"/>
    <p:sldId id="271" r:id="rId11"/>
    <p:sldId id="272" r:id="rId12"/>
    <p:sldId id="264" r:id="rId13"/>
    <p:sldId id="265" r:id="rId14"/>
    <p:sldId id="266" r:id="rId15"/>
  </p:sldIdLst>
  <p:sldSz cx="9144000" cy="5143500" type="screen16x9"/>
  <p:notesSz cx="5143500" cy="9144000"/>
  <p:custDataLst>
    <p:tags r:id="rId17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CBDC38-0F0C-EF0A-5169-FC033B4B9FA1}" v="4" dt="2026-02-19T06:35:51.132"/>
    <p1510:client id="{DDC0B4EE-2D5D-447B-AE11-6BA75CAE74F0}" v="57" dt="2026-02-19T11:04:26.3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52" autoAdjust="0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956" y="160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  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854979" y="3645023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Prassiddhi Sachdeva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854979" y="3806607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Prassiddhi Sachdeva</a:t>
            </a:r>
          </a:p>
        </p:txBody>
      </p:sp>
      <p:pic>
        <p:nvPicPr>
          <p:cNvPr id="50" name="Picture 49" descr="A blue circle with a person and a envelope in it  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>
            <a:off x="429808" y="3639905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3176086" y="3642226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176086" y="3803810"/>
            <a:ext cx="2502093" cy="2274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prassiddhisachdeva@ilc.du.ac.in</a:t>
            </a:r>
          </a:p>
        </p:txBody>
      </p:sp>
      <p:pic>
        <p:nvPicPr>
          <p:cNvPr id="51" name="Picture 50" descr="A blue circle with a person and a envelope in it  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2747249" y="3631981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60459" y="4337076"/>
            <a:ext cx="2272871" cy="389019"/>
            <a:chOff x="3139699" y="4295282"/>
            <a:chExt cx="2272871" cy="38901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Sagar Chetan Mehta</a:t>
              </a: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  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  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  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25240" y="1082801"/>
            <a:ext cx="5002346" cy="3272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2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Open Sans" panose="020B0606030504020204" pitchFamily="34" charset="0"/>
                <a:cs typeface="Arial" panose="020B0604020202020204" pitchFamily="34" charset="0"/>
              </a:rPr>
              <a:t>This project analyzes 3,028 residential apartment listings in Gurgaon, Haryana, using Power BI to build an interactive real estate market dashboard.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2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Objective: To clean raw listing data and visualize pricing patterns, sector-wise trends, and property configuration insights for buyers and investors.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2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Tools used: Microsoft Excel (Power Query for data cleaning), Power BI Desktop (DAX measures, interactive dashboard), and AI Chatbot for analysis support.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2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Outcome: An interactive dashboard with KPI cards, sector-wise price comparison, BHK distribution, area vs. price scatter plot, and dynamic slicers.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2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Key highlight: Price columns were stored as mixed text (Lac/Crore) — successfully extracted and unified into numeric INR values via Power Query transformations.</a:t>
            </a: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5814470" y="1082801"/>
            <a:ext cx="3070450" cy="2997875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8151" y="873760"/>
            <a:ext cx="3947240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0" y="1082801"/>
            <a:ext cx="4762910" cy="3272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2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Gurgaon’s real estate market generates thousands of listings across platforms, but the data is raw, inconsistent, and difficult to compare without manual effort.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2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Property prices vary enormously across sectors and configurations. Without structured data and visualization, buyers and investors cannot make informed decisions.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2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Target users: first-time homebuyers, real estate investors, property consultants, and researchers studying the Gurgaon residential market.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2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Existing listing portals show individual properties but offer no cross-sector aggregation, price-per-sqft comparison, or configuration-wise market analysis.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2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Scope: 3,028 apartment listings from Gurgaon, covering price, area, BHK type, society, sector, facing direction, and property age — analyzed as a point-in-time snapshot.</a:t>
            </a: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286" y="725532"/>
            <a:ext cx="4903714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046013"/>
            <a:ext cx="441615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This project transforms raw Gurgaon apartment listing data into a structured, interactive Power BI dashboard. Raw text fields (prices in Lac/Crore, area in mixed formats, bedroom counts as text) were cleaned using Power Query in Power BI Desktop. </a:t>
            </a:r>
          </a:p>
          <a:p>
            <a:pPr marL="0" indent="0" algn="just">
              <a:buNone/>
            </a:pPr>
            <a:endParaRPr lang="en-US" sz="1200" dirty="0">
              <a:solidFill>
                <a:srgbClr val="1A1A2E"/>
              </a:solidFill>
              <a:latin typeface="Lato" panose="020F0502020204030203" pitchFamily="34" charset="0"/>
              <a:ea typeface="Calibri" pitchFamily="34" charset="-122"/>
              <a:cs typeface="Arial" panose="020B0604020202020204" pitchFamily="34" charset="0"/>
            </a:endParaRPr>
          </a:p>
          <a:p>
            <a:pPr marL="0" indent="0" algn="just">
              <a:buNone/>
            </a:pPr>
            <a:r>
              <a:rPr lang="en-US" sz="12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DAX measures calculate key KPIs: Average Price, Median Price, Average Price per Sq.Ft., and Total Listings. The dashboard features dynamic slicers (BHK type, Sector, Property Age, Facing), a sector-wise price bar chart, BHK distribution donut chart, area vs. price scatter plot, and a Sector x BHK matrix table. </a:t>
            </a:r>
          </a:p>
          <a:p>
            <a:pPr marL="0" indent="0" algn="just">
              <a:buNone/>
            </a:pPr>
            <a:endParaRPr lang="en-US" sz="1200" dirty="0">
              <a:solidFill>
                <a:srgbClr val="1A1A2E"/>
              </a:solidFill>
              <a:latin typeface="Lato" panose="020F0502020204030203" pitchFamily="34" charset="0"/>
              <a:ea typeface="Calibri" pitchFamily="34" charset="-122"/>
              <a:cs typeface="Arial" panose="020B0604020202020204" pitchFamily="34" charset="0"/>
            </a:endParaRPr>
          </a:p>
          <a:p>
            <a:pPr marL="0" indent="0" algn="just">
              <a:buNone/>
            </a:pPr>
            <a:r>
              <a:rPr lang="en-US" sz="12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Chatbot assistance was used for data interpretation, Power Query formula writing, and DAX measure design. The result is a self-service analytics tool that helps stakeholders answer real estate questions in seconds.</a:t>
            </a:r>
            <a:endParaRPr lang="en-US" sz="12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Input / Source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Processing /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/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 /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451A0B-A0A5-5933-719A-E653AC385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848" y="1601971"/>
            <a:ext cx="384048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Foundation: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system ingests a raw CSV dataset containing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3,028 unique Gurgaon apartment listings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Attributes: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input includes 13 primary fields, most notably unstructured price strings (mixing Lac/Crore), text-encoded area descriptions, BHK configurations, and location addresses.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Sourcing: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Data is derived from</a:t>
            </a:r>
            <a:r>
              <a:rPr lang="en-US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Kaggle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4448737-D7B5-FA92-E067-C38067CE65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0248" y="1661413"/>
            <a:ext cx="436526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Converting text-based pricing (e.g., "1.25 Crore") into a standardized numeric 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INR (Lakhs)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format.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Extraction: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Isolating numerical values for Carpet Area, BHK count, and Bathroom count from complex text strings.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Categorization: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Bucketing 49 disparate "Property Age" descriptions into 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logical groups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 enable meaningful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Geospatial Cleaning: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Extracting clean 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Sector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identifiers from long-form address strings for regional benchmarking.</a:t>
            </a:r>
          </a:p>
        </p:txBody>
      </p:sp>
      <p:sp>
        <p:nvSpPr>
          <p:cNvPr id="22" name="Rectangle 4">
            <a:extLst>
              <a:ext uri="{FF2B5EF4-FFF2-40B4-BE49-F238E27FC236}">
                <a16:creationId xmlns:a16="http://schemas.microsoft.com/office/drawing/2014/main" id="{FFB76D3E-EDD2-05D9-E45A-B474AE8AAA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787" y="3405923"/>
            <a:ext cx="3782601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Computational Logic: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Implementing advanced DAX measures to calculate 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Total Listings, Average/Median Pricing, and Price per </a:t>
            </a:r>
            <a:r>
              <a:rPr kumimoji="0" lang="en-US" altLang="en-US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SqFt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 Collaboration: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Using 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 Chatbots (Gemini)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 generate complex M-code for the ETL pipeline and to design the "Deal Status" logic that identifies market anomalies.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Interpretation: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Leveraging AI to validate statistical choices, such as prioritizing 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Median Price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over Mean to mitigate the impact of luxury outliers.</a:t>
            </a:r>
          </a:p>
        </p:txBody>
      </p:sp>
      <p:sp>
        <p:nvSpPr>
          <p:cNvPr id="23" name="Rectangle 5">
            <a:extLst>
              <a:ext uri="{FF2B5EF4-FFF2-40B4-BE49-F238E27FC236}">
                <a16:creationId xmlns:a16="http://schemas.microsoft.com/office/drawing/2014/main" id="{7AD4A23A-B99E-7DB6-A550-3F312C965B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3448" y="3559811"/>
            <a:ext cx="3935188" cy="116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Visual Elements: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multi-page interface featuring KPI cards, sector-wise bar charts, configuration donuts, and property-age distributions.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Value Finder: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high-density 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Area vs. Price scatter plot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that uses automated color-coding to highlight investment opportunities.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Interactive Control: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5 dynamic slicers (Sector, BHK, Price Band, Area Type, and Deal Status) allow users to drill down into specific sub-markets in real-time.</a:t>
            </a: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20693" y="2753222"/>
            <a:ext cx="2742547" cy="1928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Performance Indicators (KPIs): Four high-visibility cards provide an instant pulse on the market, tracking Total Listings (3,028), Average Price (Lakhs), Average Price per 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SqFt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Average Area (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SqFt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descending bar chart ranks sectors by average price, allowing users to identify premium zones versus affordable pockets at a glance.</a:t>
            </a:r>
          </a:p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donut chart visualizes the concentration of BHK types across the city, supported by dynamic slicers that allow the user to filter the entire market by location or price band simultaneously.</a:t>
            </a: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18688" y="2196877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18688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67144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63056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9025676B-4BFD-9695-151F-8EDD37C9DA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2765" y="2825068"/>
            <a:ext cx="2742547" cy="1785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Value Discovery Scatter Plot: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high-density visual that plots every property by Area vs. Price. By color-coding markers (BHK Type / Deal Status), users can instantly spot anomalies—such as a large 3BHK priced significantly lower than the sector trend.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Sector × BHK Matrix: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 interactive lookup table that acts as a "Market Price Index." It allows a user to identify the exact average price for a 2BHK in any specific sector (e.g., Sector 54) without browsing individual listings.</a:t>
            </a:r>
          </a:p>
        </p:txBody>
      </p:sp>
      <p:sp>
        <p:nvSpPr>
          <p:cNvPr id="22" name="Rectangle 4">
            <a:extLst>
              <a:ext uri="{FF2B5EF4-FFF2-40B4-BE49-F238E27FC236}">
                <a16:creationId xmlns:a16="http://schemas.microsoft.com/office/drawing/2014/main" id="{8907C702-B0FE-793E-43BC-2BC35197B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285" y="2825282"/>
            <a:ext cx="266939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Currency Normalization: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Demonstrates the logic used to unify "Lakhs" and "Crore" notations into a single numeric field, enabling mathematical summation and averaging.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Attribute Parsing: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Shows how complex text strings in the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areaWithType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Configuration columns were parsed to extract clean, numeric values for "Carpet Area" and "BHK Count."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This transformation process turns thousands of inconsistent text entries into a high-performance data model ready for real-time query and visualization.</a:t>
            </a: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F404B0-9853-F6EA-B66C-4525E60F6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14" y="495980"/>
            <a:ext cx="7870371" cy="4427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819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254250C-EE98-E38D-5848-AC6E5A018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32" y="452608"/>
            <a:ext cx="8107136" cy="456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126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3109A1-E631-0786-D4FB-8A9D31F13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582" y="484244"/>
            <a:ext cx="7992836" cy="4495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2290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A568A5-DF2A-08C9-3A7A-4A3A57B2F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14" y="500060"/>
            <a:ext cx="8153403" cy="458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03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4446513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endParaRPr lang="en-US" sz="12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  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898406" y="971550"/>
            <a:ext cx="3597456" cy="33093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A5674C-F3FC-ADD6-4980-1E4EAB2AF4E6}"/>
              </a:ext>
            </a:extLst>
          </p:cNvPr>
          <p:cNvSpPr txBox="1"/>
          <p:nvPr/>
        </p:nvSpPr>
        <p:spPr>
          <a:xfrm>
            <a:off x="171172" y="971550"/>
            <a:ext cx="50700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/>
          </a:p>
          <a:p>
            <a:r>
              <a:rPr lang="en-US" sz="1200" dirty="0"/>
              <a:t>Data Processing: Cleaned and standardized 3,028 property records, resolving inconsistencies across 13 raw columns using AI-assisted ETL pipelines.</a:t>
            </a:r>
          </a:p>
          <a:p>
            <a:endParaRPr lang="en-US" sz="1200" dirty="0"/>
          </a:p>
          <a:p>
            <a:r>
              <a:rPr lang="en-US" sz="1200" dirty="0"/>
              <a:t>Inventory Insight: Identified that 47% of the market is concentrated in 3 BHK units, while 15.9% represents 4+ BHK luxury segments.</a:t>
            </a:r>
          </a:p>
          <a:p>
            <a:endParaRPr lang="en-US" sz="1200" dirty="0"/>
          </a:p>
          <a:p>
            <a:r>
              <a:rPr lang="en-US" sz="1200" dirty="0"/>
              <a:t>Benchmarking Intelligence: Developed a "Sector-Value" logic that automatically flags properties priced significantly above or below the median sector rate, providing instant "Buy/Avoid" signals.</a:t>
            </a:r>
          </a:p>
          <a:p>
            <a:endParaRPr lang="en-US" sz="1200" dirty="0"/>
          </a:p>
          <a:p>
            <a:r>
              <a:rPr lang="en-US" sz="1200" dirty="0"/>
              <a:t>Productivity Gains: Reduced the technical development cycle by approximately 75% by leveraging Human-AI collaboration for complex DAX and M-code generation.</a:t>
            </a:r>
          </a:p>
          <a:p>
            <a:endParaRPr lang="en-US" sz="1200" dirty="0"/>
          </a:p>
          <a:p>
            <a:r>
              <a:rPr lang="en-US" sz="1200" dirty="0"/>
              <a:t>User Empowerment: Created a 4-page interactive dashboard that reduces market research time from hours of manual browsing to under 10 seconds of filtered queries.</a:t>
            </a:r>
            <a:endParaRPr lang="en-IN" sz="1200" dirty="0"/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just">
              <a:buAutoNum type="arabicPeriod"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Connect to a live data feed via Power Automate or an API from property listing platforms to enable real-time price tracking across Gurgaon sectors. </a:t>
            </a:r>
          </a:p>
          <a:p>
            <a:pPr marL="342900" indent="-342900" algn="just">
              <a:buAutoNum type="arabicPeriod"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Add a predictive pricing model using Azure Machine Learning integrated into Power BI, allowing estimated price predictions based on BHK, sector, and area inputs. </a:t>
            </a:r>
          </a:p>
          <a:p>
            <a:pPr marL="342900" indent="-342900" algn="just">
              <a:buAutoNum type="arabicPeriod"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Expand coverage to NCR (Noida, Faridabad, Delhi) for a comparative multi-city dashboard. </a:t>
            </a:r>
          </a:p>
          <a:p>
            <a:pPr marL="342900" indent="-342900" algn="just">
              <a:buAutoNum type="arabicPeriod"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Build a Power Apps front-end for non-technical users to query price estimates without accessing Power BI directly.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635" y="879613"/>
            <a:ext cx="4512365" cy="338427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1297</Words>
  <Application>Microsoft Office PowerPoint</Application>
  <PresentationFormat>On-screen Show (16:9)</PresentationFormat>
  <Paragraphs>94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Lato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Prassiddhi Sachdeva</cp:lastModifiedBy>
  <cp:revision>29</cp:revision>
  <dcterms:created xsi:type="dcterms:W3CDTF">2026-02-18T09:17:23Z</dcterms:created>
  <dcterms:modified xsi:type="dcterms:W3CDTF">2026-04-18T07:28:59Z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