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540" y="76"/>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  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Prassiddhi Sachdeva</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54979" y="3806607"/>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Prassiddhi Sachdeva</a:t>
            </a:r>
          </a:p>
        </p:txBody>
      </p:sp>
      <p:pic>
        <p:nvPicPr>
          <p:cNvPr id="50" name="Picture 49" descr="A blue circle with a person and a envelope in it  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502093" cy="227435"/>
          </a:xfrm>
          <a:prstGeom prst="rect">
            <a:avLst/>
          </a:prstGeom>
        </p:spPr>
        <p:txBody>
          <a:bodyPr wrap="square"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prassiddhisachdeva@ilc.du.ac.in</a:t>
            </a:r>
          </a:p>
        </p:txBody>
      </p:sp>
      <p:pic>
        <p:nvPicPr>
          <p:cNvPr id="51" name="Picture 50" descr="A blue circle with a person and a envelope in it  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Sagar Chetan Mehta</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  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  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  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082801"/>
            <a:ext cx="5002346" cy="3272691"/>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200" dirty="0">
                <a:solidFill>
                  <a:schemeClr val="tx1"/>
                </a:solidFill>
                <a:effectLst/>
                <a:latin typeface="Lato" panose="020F0502020204030203" pitchFamily="34" charset="0"/>
                <a:ea typeface="Open Sans" panose="020B0606030504020204" pitchFamily="34" charset="0"/>
                <a:cs typeface="Arial" panose="020B0604020202020204" pitchFamily="34" charset="0"/>
              </a:rPr>
              <a:t>This project analyzes 3,028 residential apartment listings in Gurgaon, Haryana, using Power BI to build an interactive real estate market dashboard.</a:t>
            </a:r>
          </a:p>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Objective: To clean raw listing data and visualize pricing patterns, sector-wise trends, and property configuration insights for buyers and investors.</a:t>
            </a:r>
          </a:p>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Tools used: Microsoft Excel (Power Query for data cleaning), Power BI Desktop (DAX measures, interactive dashboard), and AI Chatbot for analysis support.</a:t>
            </a:r>
          </a:p>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Outcome: An interactive dashboard with KPI cards, sector-wise price comparison, BHK distribution, area vs. price scatter plot, and dynamic slicers.</a:t>
            </a:r>
          </a:p>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Key highlight: Price columns were stored as mixed text (Lac/Crore) — successfully extracted and unified into numeric INR values via Power Query transformations.</a:t>
            </a: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0" y="1082801"/>
            <a:ext cx="4762910" cy="3272691"/>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2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Gurgaon’s real estate market generates thousands of listings across platforms, but the data is raw, inconsistent, and difficult to compare without manual effort.</a:t>
            </a:r>
          </a:p>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Property prices vary enormously across sectors and configurations. Without structured data and visualization, buyers and investors cannot make informed decisions.</a:t>
            </a:r>
          </a:p>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Target users: first-time homebuyers, real estate investors, property consultants, and researchers studying the Gurgaon residential market.</a:t>
            </a:r>
          </a:p>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Existing listing portals show individual properties but offer no cross-sector aggregation, price-per-sqft comparison, or configuration-wise market analysis.</a:t>
            </a:r>
          </a:p>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Scope: 3,028 apartment listings from Gurgaon, covering price, area, BHK type, society, sector, facing direction, and property age — analyzed as a point-in-time snapshot.</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a:ln/>
        </p:spPr>
        <p:txBody>
          <a:bodyPr wrap="square" rtlCol="0" anchor="t"/>
          <a:lstStyle/>
          <a:p>
            <a:pPr marL="0" indent="0">
              <a:buNone/>
            </a:pPr>
            <a:r>
              <a:rPr lang="en-US" sz="1200" dirty="0">
                <a:solidFill>
                  <a:srgbClr val="1A1A2E"/>
                </a:solidFill>
                <a:latin typeface="Lato" panose="020F0502020204030203" pitchFamily="34" charset="0"/>
                <a:ea typeface="Calibri" pitchFamily="34" charset="-122"/>
                <a:cs typeface="Arial" panose="020B0604020202020204" pitchFamily="34" charset="0"/>
              </a:rPr>
              <a:t>This project transforms raw Gurgaon apartment listing data into a structured, interactive Power BI dashboard. Raw text fields (prices in Lac/Crore, area in mixed formats, bedroom counts as text) were cleaned using Power Query in Power BI Desktop. DAX measures calculate key KPIs: Average Price, Median Price, Average Price per Sq.Ft., and Total Listings. The dashboard features dynamic slicers (BHK type, Sector, Property Age, Facing), a sector-wise price bar chart, BHK distribution donut chart, area vs. price scatter plot, and a Sector x BHK matrix table. AI Chatbot assistance was used for data interpretation, Power Query formula writing, and DAX measure design. The result is a self-service analytics tool that helps stakeholders answer real estate questions in seconds.</a:t>
            </a:r>
            <a:endParaRPr lang="en-US" sz="12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0" indent="0">
              <a:buNone/>
            </a:pPr>
            <a:r>
              <a:rPr lang="en-US" sz="1600" dirty="0">
                <a:solidFill>
                  <a:srgbClr val="1A1A2E"/>
                </a:solidFill>
                <a:latin typeface="Lato" panose="020F0502020204030203" pitchFamily="34" charset="0"/>
                <a:ea typeface="Calibri" pitchFamily="34" charset="-122"/>
                <a:cs typeface="Arial" panose="020B0604020202020204" pitchFamily="34" charset="0"/>
              </a:rPr>
              <a:t>Raw CSV dataset: 3,028 Gurgaon apartment listings with 13 fields including price (text), area, BHK, society, address, facing, age, and property ID. Source: publicly available listing platforms.</a:t>
            </a: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r>
              <a:rPr lang="en-US" sz="1600" dirty="0">
                <a:solidFill>
                  <a:srgbClr val="1A1A2E"/>
                </a:solidFill>
                <a:latin typeface="Lato" panose="020F0502020204030203" pitchFamily="34" charset="0"/>
                <a:ea typeface="Calibri" pitchFamily="34" charset="-122"/>
                <a:cs typeface="Arial" panose="020B0604020202020204" pitchFamily="34" charset="0"/>
              </a:rPr>
              <a:t>Power Query (Power BI): Extracted numeric price (Lac/Crore to INR), carpet area (sqft from text), BHK count, price/sqft, sector from address, and bucketed property age into 6 groups. Removed 13-25 null rows per column.</a:t>
            </a: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0" indent="0">
              <a:buNone/>
            </a:pPr>
            <a:r>
              <a:rPr lang="en-US" sz="1600" dirty="0">
                <a:solidFill>
                  <a:srgbClr val="1A1A2E"/>
                </a:solidFill>
                <a:latin typeface="Lato" panose="020F0502020204030203" pitchFamily="34" charset="0"/>
                <a:ea typeface="Calibri" pitchFamily="34" charset="-122"/>
                <a:cs typeface="Arial" panose="020B0604020202020204" pitchFamily="34" charset="0"/>
              </a:rPr>
              <a:t>Power BI DAX measures: Total Listings, Avg Price (Lakhs), Median Price, Avg Price/Sqft, Avg Carpet Area. AI Chatbot used for Power Query M-code assistance and insight interpretation.</a:t>
            </a: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0" indent="0">
              <a:buNone/>
            </a:pPr>
            <a:r>
              <a:rPr lang="en-US" sz="1600" dirty="0">
                <a:solidFill>
                  <a:srgbClr val="1A1A2E"/>
                </a:solidFill>
                <a:latin typeface="Lato" panose="020F0502020204030203" pitchFamily="34" charset="0"/>
                <a:ea typeface="Calibri" pitchFamily="34" charset="-122"/>
                <a:cs typeface="Arial" panose="020B0604020202020204" pitchFamily="34" charset="0"/>
              </a:rPr>
              <a:t>Interactive Power BI dashboard: KPI cards, sector-wise bar chart, BHK donut chart, area vs. price scatter plot, property age bar chart, and Sector x BHK matrix table with 5 dynamic slicers.</a:t>
            </a: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r>
              <a:rPr lang="en-US" sz="1200" dirty="0">
                <a:latin typeface="Lato" panose="020F0502020204030203" pitchFamily="34" charset="0"/>
                <a:ea typeface="Calibri" pitchFamily="34" charset="-122"/>
                <a:cs typeface="Arial" panose="020B0604020202020204" pitchFamily="34" charset="0"/>
              </a:rPr>
              <a:t>Market Overview Page: Shows 4 KPI cards (Total Listings: 3,028 | Avg Price | Avg Price/Sqft | Avg Area), sector-wise average price bar chart sorted descending, and BHK distribution donut. Slicers filter all visuals simultaneously.</a:t>
            </a:r>
            <a:endParaRPr lang="en-US" sz="12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r>
              <a:rPr lang="en-US" sz="1200" dirty="0">
                <a:latin typeface="Lato" panose="020F0502020204030203" pitchFamily="34" charset="0"/>
                <a:ea typeface="Calibri" pitchFamily="34" charset="-122"/>
                <a:cs typeface="Arial" panose="020B0604020202020204" pitchFamily="34" charset="0"/>
              </a:rPr>
              <a:t>Price Deep Dive Page: Area vs. Price scatter plot (colour-coded by BHK type), Average Price/Sqft by Sector bar chart, and Sector x BHK matrix table — allows instant lookup of average 2BHK price in any sector.</a:t>
            </a:r>
            <a:endParaRPr lang="en-US" sz="12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r>
              <a:rPr lang="en-US" sz="1200" dirty="0">
                <a:latin typeface="Lato" panose="020F0502020204030203" pitchFamily="34" charset="0"/>
                <a:ea typeface="Calibri" pitchFamily="34" charset="-122"/>
                <a:cs typeface="Arial" panose="020B0604020202020204" pitchFamily="34" charset="0"/>
              </a:rPr>
              <a:t>Power Query Transformation: Demonstrates the before/after of data cleaning — raw price column (“45 Lac”, “1.47 Crore”) converted to numeric Lakhs, and areaWithType column parsed to extract carpet sqft as a clean number.</a:t>
            </a:r>
            <a:endParaRPr lang="en-US" sz="12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[Paste your YouTube / Google Drive demo video link here]</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Record a 5-7 minute walkthrough: Title page → Overview dashboard → apply a slicer → Price Deep Dive page → highlight 2-3 insights → show Power Query steps.</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Upload to YouTube or Google Drive, then paste the link above before submission.</a:t>
            </a:r>
            <a:endParaRPr lang="en-US"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pPr marL="0" indent="0">
              <a:buNone/>
            </a:pPr>
            <a:r>
              <a:rPr lang="en-US" sz="1200" dirty="0">
                <a:solidFill>
                  <a:srgbClr val="1A1A2E"/>
                </a:solidFill>
                <a:latin typeface="Lato" panose="020F0502020204030203" pitchFamily="34" charset="0"/>
                <a:ea typeface="Calibri" pitchFamily="34" charset="-122"/>
                <a:cs typeface="Arial" panose="020B0604020202020204" pitchFamily="34" charset="0"/>
              </a:rPr>
              <a:t>This project successfully cleaned 3,028 raw Gurgaon apartment listings and built an interactive Power BI dashboard that makes real estate market data actionable. All project objectives were achieved: data was cleaned using Power Query, key DAX measures were created, and a two-page dashboard with dynamic slicers was delivered. Key findings include significant price variation across sectors, 3 BHK being the dominant market configuration (47%), and price-per-sqft being a more reliable comparison metric than total price. The project demonstrates that business intelligence tools can transform messy, scattered property data into insights that genuinely help buyers, investors, and analysts make better decisions. AI Chatbot assistance accelerated the Power Query and DAX development process significantly.</a:t>
            </a:r>
            <a:endParaRPr lang="en-US" sz="1200"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  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342900" indent="-342900">
              <a:buAutoNum type="arabicPeriod"/>
            </a:pPr>
            <a:r>
              <a:rPr lang="en-US" sz="1400" dirty="0">
                <a:solidFill>
                  <a:srgbClr val="1A1A2E"/>
                </a:solidFill>
                <a:latin typeface="Lato" panose="020F0502020204030203" pitchFamily="34" charset="0"/>
                <a:ea typeface="Calibri" pitchFamily="34" charset="-122"/>
                <a:cs typeface="Arial" panose="020B0604020202020204" pitchFamily="34" charset="0"/>
              </a:rPr>
              <a:t>Connect to a live data feed via Power Automate or an API from property listing platforms to enable real-time price tracking across Gurgaon sectors. </a:t>
            </a:r>
          </a:p>
          <a:p>
            <a:pPr marL="342900" indent="-342900">
              <a:buAutoNum type="arabicPeriod"/>
            </a:pPr>
            <a:r>
              <a:rPr lang="en-US" sz="1400" dirty="0">
                <a:solidFill>
                  <a:srgbClr val="1A1A2E"/>
                </a:solidFill>
                <a:latin typeface="Lato" panose="020F0502020204030203" pitchFamily="34" charset="0"/>
                <a:ea typeface="Calibri" pitchFamily="34" charset="-122"/>
                <a:cs typeface="Arial" panose="020B0604020202020204" pitchFamily="34" charset="0"/>
              </a:rPr>
              <a:t>Add a predictive pricing model using Azure Machine Learning integrated into Power BI, allowing estimated price predictions based on BHK, sector, and area inputs. </a:t>
            </a:r>
          </a:p>
          <a:p>
            <a:pPr marL="342900" indent="-342900">
              <a:buAutoNum type="arabicPeriod"/>
            </a:pPr>
            <a:r>
              <a:rPr lang="en-US" sz="1400" dirty="0">
                <a:solidFill>
                  <a:srgbClr val="1A1A2E"/>
                </a:solidFill>
                <a:latin typeface="Lato" panose="020F0502020204030203" pitchFamily="34" charset="0"/>
                <a:ea typeface="Calibri" pitchFamily="34" charset="-122"/>
                <a:cs typeface="Arial" panose="020B0604020202020204" pitchFamily="34" charset="0"/>
              </a:rPr>
              <a:t>Expand coverage to NCR (Noida, Faridabad, Delhi) for a comparative multi-city dashboard. </a:t>
            </a:r>
          </a:p>
          <a:p>
            <a:pPr marL="342900" indent="-342900">
              <a:buAutoNum type="arabicPeriod"/>
            </a:pPr>
            <a:r>
              <a:rPr lang="en-US" sz="1400" dirty="0">
                <a:solidFill>
                  <a:srgbClr val="1A1A2E"/>
                </a:solidFill>
                <a:latin typeface="Lato" panose="020F0502020204030203" pitchFamily="34" charset="0"/>
                <a:ea typeface="Calibri" pitchFamily="34" charset="-122"/>
                <a:cs typeface="Arial" panose="020B0604020202020204" pitchFamily="34" charset="0"/>
              </a:rPr>
              <a:t>Build a Power Apps front-end for non-technical users to query price estimates without accessing Power BI directly.</a:t>
            </a:r>
            <a:endParaRPr lang="en-US" sz="1400"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TotalTime>
  <Words>1092</Words>
  <Application>Microsoft Office PowerPoint</Application>
  <PresentationFormat>On-screen Show (16:9)</PresentationFormat>
  <Paragraphs>73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Prassiddhi Sachdeva</cp:lastModifiedBy>
  <cp:revision>25</cp:revision>
  <dcterms:created xsi:type="dcterms:W3CDTF">2026-02-18T09:17:23Z</dcterms:created>
  <dcterms:modified xsi:type="dcterms:W3CDTF">2026-03-26T13:56:31Z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